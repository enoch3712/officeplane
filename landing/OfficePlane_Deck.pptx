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56"/>
  </p:normalViewPr>
  <p:slideViewPr>
    <p:cSldViewPr snapToGrid="0" snapToObjects="1">
      <p:cViewPr varScale="1">
        <p:scale>
          <a:sx n="96" d="100"/>
          <a:sy n="96" d="100"/>
        </p:scale>
        <p:origin x="200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640080" cy="640080"/>
          </a:xfrm>
          <a:prstGeom prst="roundRect">
            <a:avLst>
              <a:gd name="adj" fmla="val 2000"/>
            </a:avLst>
          </a:prstGeom>
          <a:solidFill>
            <a:srgbClr val="30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99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621C"/>
                </a:solidFill>
                <a:latin typeface="Calibri"/>
              </a:defRPr>
            </a:pPr>
            <a:r>
              <a:rPr dirty="0"/>
              <a:t>{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OfficePlane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rPr dirty="0"/>
              <a:t>Agentic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02712"/>
            <a:ext cx="59197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The open-source agentic runtime</a:t>
            </a:r>
            <a:br>
              <a:rPr sz="2800" dirty="0"/>
            </a:br>
            <a:r>
              <a:rPr sz="2800" dirty="0"/>
              <a:t>for deterministic document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255" y="3701181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8D4"/>
                </a:solidFill>
                <a:latin typeface="Calibri"/>
              </a:defRPr>
            </a:pPr>
            <a:r>
              <a:rPr dirty="0"/>
              <a:t>Give your AI agents a proper framework to read, write, and transform</a:t>
            </a:r>
            <a:br>
              <a:rPr dirty="0"/>
            </a:br>
            <a:r>
              <a:rPr dirty="0"/>
              <a:t>office files -- with contracts, verification, and rollback built 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572767" cy="347472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 w="12700">
            <a:solidFill>
              <a:srgbClr val="3A4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5727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7" y="5394960"/>
            <a:ext cx="804672" cy="347472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 w="12700">
            <a:solidFill>
              <a:srgbClr val="3A4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7" y="539496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Calibri"/>
              </a:defRPr>
            </a:pPr>
            <a:r>
              <a:t>DOCX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5394960"/>
            <a:ext cx="804672" cy="347472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 w="12700">
            <a:solidFill>
              <a:srgbClr val="3A4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79" y="539496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Calibri"/>
              </a:defRPr>
            </a:pPr>
            <a:r>
              <a:t>XLSX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1" y="5394960"/>
            <a:ext cx="804672" cy="347472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 w="12700">
            <a:solidFill>
              <a:srgbClr val="3A4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1" y="539496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Calibri"/>
              </a:defRPr>
            </a:pPr>
            <a:r>
              <a:t>PPTX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66943" y="5394960"/>
            <a:ext cx="694944" cy="347472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 w="12700">
            <a:solidFill>
              <a:srgbClr val="3A4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66943" y="5394960"/>
            <a:ext cx="694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Calibri"/>
              </a:defRPr>
            </a:pPr>
            <a:r>
              <a:t>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7" y="5394960"/>
            <a:ext cx="2450591" cy="347472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 w="12700">
            <a:solidFill>
              <a:srgbClr val="3A4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7" y="5394960"/>
            <a:ext cx="2450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FF14"/>
                </a:solidFill>
                <a:latin typeface="Calibri"/>
              </a:defRPr>
            </a:pPr>
            <a:r>
              <a:t>Plan-Execute-Verify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4592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alibri"/>
              </a:defRPr>
            </a:pPr>
            <a:r>
              <a:t>Run #4,821  | 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1828800"/>
            <a:ext cx="914400" cy="292608"/>
          </a:xfrm>
          <a:prstGeom prst="roundRect">
            <a:avLst>
              <a:gd name="adj" fmla="val 2000"/>
            </a:avLst>
          </a:prstGeom>
          <a:solidFill>
            <a:srgbClr val="0A2E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0" y="1828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9FF14"/>
                </a:solidFill>
                <a:latin typeface="Calibri"/>
              </a:defRPr>
            </a:pPr>
            <a:r>
              <a:t>SUCCESS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1.1s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3342640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49640" y="32918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ourier New"/>
              </a:defRPr>
            </a:pPr>
            <a:r>
              <a:t>Prettify -&gt; extract structure         0.2s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3635248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35844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ourier New"/>
              </a:defRPr>
            </a:pPr>
            <a:r>
              <a:t>Contract Request -&gt; plan              0.4s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927856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38770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ourier New"/>
              </a:defRPr>
            </a:pPr>
            <a:r>
              <a:t>File assembly via LibreOffice         0.3s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4220464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49640" y="41696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ourier New"/>
              </a:defRPr>
            </a:pPr>
            <a:r>
              <a:t>Verify output against contract        0.2s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846320"/>
            <a:ext cx="3291840" cy="502920"/>
          </a:xfrm>
          <a:prstGeom prst="roundRect">
            <a:avLst>
              <a:gd name="adj" fmla="val 2000"/>
            </a:avLst>
          </a:prstGeom>
          <a:solidFill>
            <a:srgbClr val="0A2E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48646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9FF14"/>
                </a:solidFill>
                <a:latin typeface="Calibri"/>
              </a:defRPr>
            </a:pPr>
            <a:r>
              <a:t>Verification passed  |  Confidence: 0.97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github.com/enoch3712/AgenticDocs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Agents are everywhere.</a:t>
            </a:r>
            <a:br/>
            <a:r>
              <a:t>But they still can't reliably edit a spreadsheet.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The agentic AI market is exploding -- yet there's no proper OSS framework for file manipulation.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29260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F57"/>
                </a:solidFill>
                <a:latin typeface="Calibri"/>
              </a:defRPr>
            </a:pPr>
            <a:r>
              <a:t>Traditional MCP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Dozens of individual tool calls per document edit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No atomicity -- partial failures leave corrupted files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No verification -- agents can't confirm what they built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No rollback -- mistakes are permanent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Chaotic call graphs that are impossible to debug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029200" cy="29260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9FF14"/>
                </a:solidFill>
                <a:latin typeface="Calibri"/>
              </a:defRPr>
            </a:pPr>
            <a:r>
              <a:t>What Agents Actually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8404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Declare intent, not individual steps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Atomic execution -- all or nothing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Built-in verification with confidence scores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Transaction rollback on failure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Deterministic, auditable action contracts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Every AI agent needs to manipulate files.</a:t>
            </a:r>
            <a:br/>
            <a:r>
              <a:t>No one has built the infrastructure layer -- until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2560320" cy="20116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154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9FF14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94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of enterprise data lives in</a:t>
            </a:r>
            <a:br/>
            <a:r>
              <a:t>office documents (Gartner)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926080"/>
            <a:ext cx="2560320" cy="20116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3154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9FF14"/>
                </a:solidFill>
                <a:latin typeface="Calibri"/>
              </a:defRPr>
            </a:pPr>
            <a:r>
              <a:t>$28B+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794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Agentic AI market by 2028</a:t>
            </a:r>
            <a:br/>
            <a:r>
              <a:t>(Markets &amp; Markets)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2560320" cy="20116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154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9FF14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94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Growth in AI agent frameworks</a:t>
            </a:r>
            <a:br/>
            <a:r>
              <a:t>in the last 12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926080"/>
            <a:ext cx="2560320" cy="20116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20" y="3154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9FF14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794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Open-source runtimes purpose-built</a:t>
            </a:r>
            <a:br/>
            <a:r>
              <a:t>for agentic file manipulation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2000"/>
            </a:avLst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Calibri"/>
              </a:defRPr>
            </a:pPr>
            <a:r>
              <a:t>The gap: Agents can call APIs, search the web, write code -- but editing a Word doc or Excel sheet? That's still broken.</a:t>
            </a:r>
            <a:br/>
            <a:r>
              <a:t>OfficePlane fills this gap as the first open-source agentic runtime purpose-built for deterministic document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Introducing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OfficePlane: the agentic runtime for deterministic document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An open-source framework that gives AI agents reliable, verified control over office documents.</a:t>
            </a:r>
            <a:br/>
            <a:r>
              <a:t>Plan. Contract. Apply. Verify. Every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383280" cy="30175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0120" y="3383280"/>
            <a:ext cx="731520" cy="508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Prettify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FF14"/>
                </a:solidFill>
                <a:latin typeface="Calibri"/>
              </a:defRPr>
            </a:pPr>
            <a:r>
              <a:t>Automatic structure</a:t>
            </a:r>
            <a:br/>
            <a: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Point at any file. Get a clean,</a:t>
            </a:r>
            <a:br/>
            <a:r>
              <a:t>machine-readable representation</a:t>
            </a:r>
            <a:br/>
            <a:r>
              <a:t>of chapters, sections, pages,</a:t>
            </a:r>
            <a:br/>
            <a:r>
              <a:t>and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00400"/>
            <a:ext cx="3383280" cy="30175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3383280"/>
            <a:ext cx="73152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Contract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621C"/>
                </a:solidFill>
                <a:latin typeface="Calibri"/>
              </a:defRPr>
            </a:pPr>
            <a:r>
              <a:t>Plan-build-verify</a:t>
            </a:r>
            <a:br/>
            <a:r>
              <a:t>in one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Agent declares intent. OfficePlane</a:t>
            </a:r>
            <a:br/>
            <a:r>
              <a:t>plans, executes atomically, and</a:t>
            </a:r>
            <a:br/>
            <a:r>
              <a:t>verifies the output against the</a:t>
            </a:r>
            <a:br/>
            <a:r>
              <a:t>contract.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383280" cy="30175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3383280"/>
            <a:ext cx="73152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Document Harness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FFF"/>
                </a:solidFill>
                <a:latin typeface="Calibri"/>
              </a:defRPr>
            </a:pPr>
            <a:r>
              <a:t>Orchestrate long-</a:t>
            </a:r>
            <a:br/>
            <a:r>
              <a:t>running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572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8D4"/>
                </a:solidFill>
                <a:latin typeface="Calibri"/>
              </a:defRPr>
            </a:pPr>
            <a:r>
              <a:t>Context management, parallel</a:t>
            </a:r>
            <a:br/>
            <a:r>
              <a:t>execution, checkpointing, and</a:t>
            </a:r>
            <a:br/>
            <a:r>
              <a:t>rollback. Plugs into any agent</a:t>
            </a:r>
            <a:br/>
            <a:r>
              <a:t>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Contract Model: from chaos to determinism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F57"/>
                </a:solidFill>
                <a:latin typeface="Calibri"/>
              </a:defRPr>
            </a:pPr>
            <a:r>
              <a:t>Traditional MCP: N chaotic tool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ourier New"/>
              </a:defRPr>
            </a:pPr>
            <a:r>
              <a:t>edit_cell(), insert_row(), format_bold(), add_chart(),</a:t>
            </a:r>
            <a:br/>
            <a:r>
              <a:t>set_font(), merge_cells(), save()... hope it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9FF14"/>
                </a:solidFill>
                <a:latin typeface="Calibri"/>
              </a:defRPr>
            </a:pPr>
            <a:r>
              <a:t>OfficePlane: 3 deterministic steps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407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Calibri"/>
              </a:defRPr>
            </a:pPr>
            <a:r>
              <a:t>Agent declares intent and schema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093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Calibri"/>
              </a:defRPr>
            </a:pPr>
            <a:r>
              <a:t>Rules, validation, expected output locked in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486400"/>
            <a:ext cx="502920" cy="502920"/>
          </a:xfrm>
          <a:prstGeom prst="ellipse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7790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8D4"/>
                </a:solidFill>
                <a:latin typeface="Calibri"/>
              </a:defRPr>
            </a:pPr>
            <a:r>
              <a:t>OfficePlane builds, verifies, delivers</a:t>
            </a:r>
          </a:p>
        </p:txBody>
      </p:sp>
      <p:pic>
        <p:nvPicPr>
          <p:cNvPr id="17" name="Picture 16" descr="diagram-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03520" cy="28928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Prettify: automatic document structure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Point OfficePlane at any DOCX, PPTX, XLSX, or PDF.</a:t>
            </a:r>
            <a:br/>
            <a:r>
              <a:t>Prettify extracts the full document structure into</a:t>
            </a:r>
            <a:br/>
            <a:r>
              <a:t>a clean, machine-readable representation.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Vision-powered extraction for complex layouts (Gemini API)</a:t>
            </a:r>
          </a:p>
          <a:p>
            <a:pPr>
              <a:spcBef>
                <a:spcPts val="1000"/>
              </a:spcBef>
              <a:defRPr sz="1500">
                <a:solidFill>
                  <a:srgbClr val="C0C8D4"/>
                </a:solidFill>
              </a:defRPr>
            </a:pPr>
            <a:r>
              <a:t>  Detects chapters, sections, pages, metadata automatically</a:t>
            </a:r>
          </a:p>
          <a:p>
            <a:pPr>
              <a:spcBef>
                <a:spcPts val="1000"/>
              </a:spcBef>
              <a:defRPr sz="1500">
                <a:solidFill>
                  <a:srgbClr val="C0C8D4"/>
                </a:solidFill>
              </a:defRPr>
            </a:pPr>
            <a:r>
              <a:t>  Works across all supported document formats</a:t>
            </a:r>
          </a:p>
          <a:p>
            <a:pPr>
              <a:spcBef>
                <a:spcPts val="1000"/>
              </a:spcBef>
              <a:defRPr sz="1500">
                <a:solidFill>
                  <a:srgbClr val="C0C8D4"/>
                </a:solidFill>
              </a:defRPr>
            </a:pPr>
            <a:r>
              <a:t>  Returns structured JSON your agent can reason about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5029200" cy="11887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9FF14"/>
                </a:solidFill>
                <a:latin typeface="Courier New"/>
              </a:defRPr>
            </a:pPr>
            <a:r>
              <a:t>doc = await plane.prettify("report.docx")</a:t>
            </a:r>
            <a:br/>
            <a:r>
              <a:t>print(doc.chapters)   # 8 chapters</a:t>
            </a:r>
            <a:br/>
            <a:r>
              <a:t>print(doc.sections)   # 23 sections</a:t>
            </a:r>
            <a:br/>
            <a:r>
              <a:t>print(doc.pages)      # 42 pages</a:t>
            </a:r>
          </a:p>
        </p:txBody>
      </p:sp>
      <p:pic>
        <p:nvPicPr>
          <p:cNvPr id="9" name="Picture 8" descr="diagram-prett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03520" cy="2892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Document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Like an agent harness, but for documents.</a:t>
            </a:r>
            <a:br/>
            <a:r>
              <a:t>For your agentic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Read, prettify, plan, build, verify. All in one deterministic loop with</a:t>
            </a:r>
            <a:br/>
            <a:r>
              <a:t>checkpointing, parallel execution, and contract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6858000" cy="32004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333756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15568" y="3337560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16736" y="3337560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ourier New"/>
              </a:defRPr>
            </a:pPr>
            <a:r>
              <a:t>OfficePlane Harness -- Q4 Board Deck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6400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8D4"/>
                </a:solidFill>
                <a:latin typeface="Courier New"/>
              </a:defRPr>
            </a:pPr>
            <a:r>
              <a:t>&gt; /prettify-and-build is running...</a:t>
            </a:r>
            <a:br/>
            <a:br/>
            <a:r>
              <a:t>  Read(Q4-board-deck.docx)</a:t>
            </a:r>
            <a:br/>
            <a:r>
              <a:t>  -&gt; Read 42 pages, 8 chapters detected</a:t>
            </a:r>
            <a:br/>
            <a:br/>
            <a:r>
              <a:t>  Prettify()</a:t>
            </a:r>
            <a:br/>
            <a:r>
              <a:t>  -&gt; Extracted 8 chapters, 23 sections, 156 elements</a:t>
            </a:r>
            <a:br/>
            <a:br/>
            <a:r>
              <a:t>  ContractRequest(exec_summary)</a:t>
            </a:r>
            <a:br/>
            <a:r>
              <a:t>  -&gt; Plan generated: 3 deliverables, 12 actions</a:t>
            </a:r>
            <a:br/>
            <a:br/>
            <a:r>
              <a:t>  Launching parallel document tasks...</a:t>
            </a:r>
            <a:br/>
            <a:r>
              <a:t>  -&gt; Build executive summary (max 2 pages)</a:t>
            </a:r>
            <a:br/>
            <a:r>
              <a:t>  -&gt; Extract KPI tables from chapters 3-5</a:t>
            </a:r>
            <a:br/>
            <a:r>
              <a:t>  -&gt; Assemble final deck via LibreOffice driver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3251200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Context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Manages state across long-running</a:t>
            </a:r>
            <a:br/>
            <a:r>
              <a:t>document workflows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0" y="4028440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Parallel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Multiple document tasks run</a:t>
            </a:r>
            <a:br/>
            <a:r>
              <a:t>concurrently with progress tracking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0" y="4805680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Atomic 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Never leave documents in a</a:t>
            </a:r>
            <a:br/>
            <a:r>
              <a:t>half-edited state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0" y="5582920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Framework 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806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Plugs into Claude, LangChain,</a:t>
            </a:r>
            <a:br/>
            <a:r>
              <a:t>CrewAI, or any custom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SheetTools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Excel manipulation for agents.</a:t>
            </a:r>
            <a:br/>
            <a:r>
              <a:t>Plan-Execute-Rollback built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Dependency-free XLSX editing with transactions, structured results, and full rollback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669280" cy="34747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315468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15568" y="3154680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16736" y="3154680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ourier New"/>
              </a:defRPr>
            </a:pPr>
            <a:r>
              <a:t>sheettools_example.py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9FF14"/>
                </a:solidFill>
                <a:latin typeface="Courier New"/>
              </a:defRPr>
            </a:pPr>
            <a:r>
              <a:rPr dirty="0"/>
              <a:t>from </a:t>
            </a:r>
            <a:r>
              <a:rPr dirty="0" err="1"/>
              <a:t>officeplane.sheettools</a:t>
            </a:r>
            <a:r>
              <a:rPr dirty="0"/>
              <a:t> import (</a:t>
            </a:r>
            <a:br>
              <a:rPr dirty="0"/>
            </a:br>
            <a:r>
              <a:rPr dirty="0"/>
              <a:t>    </a:t>
            </a:r>
            <a:r>
              <a:rPr dirty="0" err="1"/>
              <a:t>SpreadsheetEditor</a:t>
            </a:r>
            <a:r>
              <a:rPr dirty="0"/>
              <a:t>, </a:t>
            </a:r>
            <a:r>
              <a:rPr dirty="0" err="1"/>
              <a:t>SpreadsheetPlan</a:t>
            </a:r>
            <a:r>
              <a:rPr dirty="0"/>
              <a:t>, </a:t>
            </a:r>
            <a:r>
              <a:rPr dirty="0" err="1"/>
              <a:t>PlanExecutor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with </a:t>
            </a:r>
            <a:r>
              <a:rPr dirty="0" err="1"/>
              <a:t>SpreadsheetEditor</a:t>
            </a:r>
            <a:r>
              <a:rPr dirty="0"/>
              <a:t>("</a:t>
            </a:r>
            <a:r>
              <a:rPr dirty="0" err="1"/>
              <a:t>sales.xlsx</a:t>
            </a:r>
            <a:r>
              <a:rPr dirty="0"/>
              <a:t>") as editor:</a:t>
            </a:r>
            <a:br>
              <a:rPr dirty="0"/>
            </a:br>
            <a:r>
              <a:rPr dirty="0"/>
              <a:t>    plan = </a:t>
            </a:r>
            <a:r>
              <a:rPr dirty="0" err="1"/>
              <a:t>SpreadsheetPlan</a:t>
            </a:r>
            <a:r>
              <a:rPr dirty="0"/>
              <a:t>("Q4 Sales Report")</a:t>
            </a:r>
            <a:br>
              <a:rPr dirty="0"/>
            </a:br>
            <a:r>
              <a:rPr dirty="0"/>
              <a:t>    </a:t>
            </a:r>
            <a:r>
              <a:rPr dirty="0" err="1"/>
              <a:t>plan.add_sheet</a:t>
            </a:r>
            <a:r>
              <a:rPr dirty="0"/>
              <a:t>("Data")</a:t>
            </a:r>
            <a:br>
              <a:rPr dirty="0"/>
            </a:br>
            <a:r>
              <a:rPr dirty="0"/>
              <a:t>    </a:t>
            </a:r>
            <a:r>
              <a:rPr dirty="0" err="1"/>
              <a:t>plan.create_table</a:t>
            </a:r>
            <a:r>
              <a:rPr dirty="0"/>
              <a:t>(</a:t>
            </a:r>
            <a:br>
              <a:rPr dirty="0"/>
            </a:br>
            <a:r>
              <a:rPr dirty="0"/>
              <a:t>        "Data", "A1",</a:t>
            </a:r>
            <a:br>
              <a:rPr dirty="0"/>
            </a:br>
            <a:r>
              <a:rPr dirty="0"/>
              <a:t>        headers=["Month", "Revenue", "Growth"],</a:t>
            </a:r>
            <a:br>
              <a:rPr dirty="0"/>
            </a:br>
            <a:r>
              <a:rPr dirty="0"/>
              <a:t>        rows=[["Oct", 42000, "12%"],</a:t>
            </a:r>
            <a:br>
              <a:rPr dirty="0"/>
            </a:br>
            <a:r>
              <a:rPr dirty="0"/>
              <a:t>              ["Nov", 48000, "14%"],</a:t>
            </a:r>
            <a:br>
              <a:rPr dirty="0"/>
            </a:br>
            <a:r>
              <a:rPr dirty="0"/>
              <a:t>              ["Dec", 55000, "15%"]]</a:t>
            </a:r>
            <a:br>
              <a:rPr dirty="0"/>
            </a:br>
            <a:r>
              <a:rPr dirty="0"/>
              <a:t>    )</a:t>
            </a:r>
            <a:br>
              <a:rPr dirty="0"/>
            </a:br>
            <a:br>
              <a:rPr dirty="0"/>
            </a:br>
            <a:r>
              <a:rPr dirty="0"/>
              <a:t>    executor = </a:t>
            </a:r>
            <a:r>
              <a:rPr dirty="0" err="1"/>
              <a:t>PlanExecutor</a:t>
            </a:r>
            <a:r>
              <a:rPr dirty="0"/>
              <a:t>(editor)</a:t>
            </a:r>
            <a:br>
              <a:rPr dirty="0"/>
            </a:br>
            <a:r>
              <a:rPr dirty="0"/>
              <a:t>    result = </a:t>
            </a:r>
            <a:r>
              <a:rPr dirty="0" err="1"/>
              <a:t>executor.execute</a:t>
            </a:r>
            <a:r>
              <a:rPr dirty="0"/>
              <a:t>(plan)</a:t>
            </a:r>
            <a:br>
              <a:rPr dirty="0"/>
            </a:br>
            <a:r>
              <a:rPr dirty="0"/>
              <a:t>    # Atomic! Rolls back on any failure.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1162216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111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SpreadsheetEditor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36744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urier New"/>
              </a:defRPr>
            </a:pPr>
            <a:r>
              <a:rPr dirty="0"/>
              <a:t>Open, edit, save XLSX files.</a:t>
            </a:r>
            <a:br>
              <a:rPr dirty="0"/>
            </a:br>
            <a:r>
              <a:rPr dirty="0"/>
              <a:t>Pure Python -- no </a:t>
            </a:r>
            <a:r>
              <a:rPr dirty="0" err="1"/>
              <a:t>openpyxl</a:t>
            </a:r>
            <a:r>
              <a:rPr dirty="0"/>
              <a:t> dependency.</a:t>
            </a:r>
            <a:br>
              <a:rPr dirty="0"/>
            </a:br>
            <a:r>
              <a:rPr dirty="0"/>
              <a:t>Direct OOXML manipulation.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2030896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980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Transaction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23612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urier New"/>
              </a:defRPr>
            </a:pPr>
            <a:r>
              <a:t>with editor.transaction() as tx:</a:t>
            </a:r>
            <a:br/>
            <a:r>
              <a:t>Automatic rollback on exception.</a:t>
            </a:r>
            <a:br/>
            <a:r>
              <a:t>Deep-copy backup &amp; restore.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2899576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28487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SheetReader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10480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urier New"/>
              </a:defRPr>
            </a:pPr>
            <a:r>
              <a:t>list_sheets(), get_row(), get_column()</a:t>
            </a:r>
            <a:br/>
            <a:r>
              <a:t>get_used_range(), get_sheet_summary()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0" y="3768256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37174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CellModifier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9734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urier New"/>
              </a:defRPr>
            </a:pPr>
            <a:r>
              <a:t>set_values(), set_formula(),</a:t>
            </a:r>
            <a:br/>
            <a:r>
              <a:t>clear_values(), replace_in_sheet()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0" y="4636936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4586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TableBuilder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84216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urier New"/>
              </a:defRPr>
            </a:pPr>
            <a:r>
              <a:t>create_table() with headers &amp; rows.</a:t>
            </a:r>
            <a:br/>
            <a:r>
              <a:t>add_totals_row() with SUM formulas.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5505616"/>
            <a:ext cx="127000" cy="127000"/>
          </a:xfrm>
          <a:prstGeom prst="ellipse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5454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PlanExecutor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71084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urier New"/>
              </a:defRPr>
            </a:pPr>
            <a:r>
              <a:t>Validate -&gt; Execute -&gt; Verify.</a:t>
            </a:r>
            <a:br/>
            <a:r>
              <a:t>Dry-run mode. Step callbacks.</a:t>
            </a:r>
            <a:br/>
            <a:r>
              <a:t>Full result tracking per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Modular, extensible, production-ready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2212848"/>
            <a:ext cx="54864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DocTools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Word/DOCX editing</a:t>
            </a:r>
            <a:br/>
            <a:r>
              <a:t>with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10312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2212848"/>
            <a:ext cx="548640" cy="508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SheetTools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97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Excel/XLSX editing</a:t>
            </a:r>
            <a:br/>
            <a:r>
              <a:t>with plan-execute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10312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06440" y="2212848"/>
            <a:ext cx="54864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697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Vision-powered</a:t>
            </a:r>
            <a:br/>
            <a:r>
              <a:t>structure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03120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2212848"/>
            <a:ext cx="54864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97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LibreOffice | Rust</a:t>
            </a:r>
            <a:br/>
            <a:r>
              <a:t>Mock | Custom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49039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" y="3858767"/>
            <a:ext cx="54864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00507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4339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LLM-based action</a:t>
            </a:r>
            <a:br/>
            <a:r>
              <a:t>graph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749039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37560" y="3858767"/>
            <a:ext cx="548640" cy="508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7560" y="400507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34339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Instances, tasks</a:t>
            </a:r>
            <a:br/>
            <a:r>
              <a:t>queue, orchestration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3749039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06440" y="3858767"/>
            <a:ext cx="548640" cy="508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06440" y="400507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Memory/RAG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34339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Vector store</a:t>
            </a:r>
            <a:br/>
            <a:r>
              <a:t>embeddings, 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49039"/>
            <a:ext cx="2194560" cy="13716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75320" y="3858767"/>
            <a:ext cx="54864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400507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34339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Logging, metrics</a:t>
            </a:r>
            <a:br/>
            <a:r>
              <a:t>Prometheus, traces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94960"/>
            <a:ext cx="2606040" cy="1005840"/>
          </a:xfrm>
          <a:prstGeom prst="roundRect">
            <a:avLst>
              <a:gd name="adj" fmla="val 2000"/>
            </a:avLst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15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alibri"/>
              </a:defRPr>
            </a:pPr>
            <a:r>
              <a:t>REST + WebSocket</a:t>
            </a:r>
            <a:br/>
            <a:r>
              <a:t>Real-time updates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5394960"/>
            <a:ext cx="2606040" cy="1005840"/>
          </a:xfrm>
          <a:prstGeom prst="roundRect">
            <a:avLst>
              <a:gd name="adj" fmla="val 2000"/>
            </a:avLst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PostgreSQL + pgvector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715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alibri"/>
              </a:defRPr>
            </a:pPr>
            <a:r>
              <a:t>Documents, vectors</a:t>
            </a:r>
            <a:br/>
            <a:r>
              <a:t>Prisma 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394960"/>
            <a:ext cx="2606040" cy="1005840"/>
          </a:xfrm>
          <a:prstGeom prst="roundRect">
            <a:avLst>
              <a:gd name="adj" fmla="val 2000"/>
            </a:avLst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Next.js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715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alibri"/>
              </a:defRPr>
            </a:pPr>
            <a:r>
              <a:t>Management UI</a:t>
            </a:r>
            <a:br/>
            <a:r>
              <a:t>Task monitoring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5394960"/>
            <a:ext cx="2606040" cy="1005840"/>
          </a:xfrm>
          <a:prstGeom prst="roundRect">
            <a:avLst>
              <a:gd name="adj" fmla="val 2000"/>
            </a:avLst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9828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5715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alibri"/>
              </a:defRPr>
            </a:pPr>
            <a:r>
              <a:t>One-command deploy</a:t>
            </a:r>
            <a:br/>
            <a:r>
              <a:t>All-in-one container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One intent. Full lifecycle. Zero guesswork.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15568" y="2148840"/>
            <a:ext cx="127000" cy="12700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16736" y="2148840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4A6"/>
                </a:solidFill>
                <a:latin typeface="Courier New"/>
              </a:defRPr>
            </a:pPr>
            <a:r>
              <a:t>example.py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FF14"/>
                </a:solidFill>
                <a:latin typeface="Courier New"/>
              </a:defRPr>
            </a:pPr>
            <a:r>
              <a:t>from officeplane import OfficePlane</a:t>
            </a:r>
            <a:br/>
            <a:br/>
            <a:r>
              <a:t># Initialize with a driver</a:t>
            </a:r>
            <a:br/>
            <a:r>
              <a:t>plane = OfficePlane(driver="libreoffice")</a:t>
            </a:r>
            <a:br/>
            <a:br/>
            <a:r>
              <a:t># Prettify: extract document structure</a:t>
            </a:r>
            <a:br/>
            <a:r>
              <a:t>doc = await plane.prettify("report.docx")</a:t>
            </a:r>
            <a:br/>
            <a:r>
              <a:t>print(doc.chapters, doc.sections)</a:t>
            </a:r>
            <a:br/>
            <a:br/>
            <a:r>
              <a:t># Contract Request: agent defines the plan</a:t>
            </a:r>
            <a:br/>
            <a:r>
              <a:t>contract = plane.contract_request(</a:t>
            </a:r>
            <a:br/>
            <a:r>
              <a:t>    schema="exec_summary",</a:t>
            </a:r>
            <a:br/>
            <a:r>
              <a:t>    source=doc,</a:t>
            </a:r>
            <a:br/>
            <a:r>
              <a:t>    rules=["max 2 pages", "include KPIs"]</a:t>
            </a:r>
            <a:br/>
            <a:r>
              <a:t>)</a:t>
            </a:r>
            <a:br/>
            <a:br/>
            <a:r>
              <a:t># OfficePlane builds the file</a:t>
            </a:r>
            <a:br/>
            <a:r>
              <a:t>result = await plane.execute(contract)</a:t>
            </a:r>
            <a:br/>
            <a:r>
              <a:t>print(f"Confidence: {result.confidence}")</a:t>
            </a:r>
            <a:br/>
            <a:r>
              <a:t># Confidence: 0.97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Declare intent,</a:t>
            </a:r>
            <a:br/>
            <a:r>
              <a:t>not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4203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Let the runtime figure out</a:t>
            </a:r>
            <a:br/>
            <a:r>
              <a:t>the action graph. You say</a:t>
            </a:r>
            <a:br/>
            <a:r>
              <a:t>what, OfficePlane says how.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Atomic execution</a:t>
            </a:r>
            <a:br/>
            <a:r>
              <a:t>with 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68503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Never leave documents in a</a:t>
            </a:r>
            <a:br/>
            <a:r>
              <a:t>half-edited state. Every</a:t>
            </a:r>
            <a:br/>
            <a:r>
              <a:t>operation is all-or-nothing.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Built-in</a:t>
            </a:r>
            <a:br/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2803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Confidence scoring and</a:t>
            </a:r>
            <a:br/>
            <a:r>
              <a:t>outcome validation included.</a:t>
            </a:r>
            <a:br/>
            <a:r>
              <a:t>Know what you got.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Result types,</a:t>
            </a:r>
            <a:br/>
            <a:r>
              <a:t>not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97103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4A6"/>
                </a:solidFill>
                <a:latin typeface="Calibri"/>
              </a:defRPr>
            </a:pPr>
            <a:r>
              <a:t>Ok/Err pattern throughout.</a:t>
            </a:r>
            <a:br/>
            <a:r>
              <a:t>Structured error codes.</a:t>
            </a:r>
            <a:br/>
            <a:r>
              <a:t>No surprises.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Open-Source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Open-source core. Commercial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Self-host free forever. The moat is deterministic edit contracts + fidelity verification, not file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029200" cy="34747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9FF14"/>
                </a:solidFill>
                <a:latin typeface="Calibri"/>
              </a:defRPr>
            </a:pPr>
            <a:r>
              <a:t>Open Source (Permissive License)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Edit Program IR spec + validators + compiler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Deterministic execution engine (runs, events, retries)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Driver interfaces + reference drivers (DOCX, XLSX)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Verification toolkit (render + visual diff + structural checks)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SDKs + CLI + local docker-compose runner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SheetTools, DocTools, Ingestion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029200" cy="347472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21C"/>
                </a:solidFill>
                <a:latin typeface="Calibri"/>
              </a:defRPr>
            </a:pPr>
            <a:r>
              <a:t>Commercial (Managed + Enterprise)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520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Hosted runtime: scalable render farm, queues, observability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Enterprise: SSO/SAML, SCIM, RBAC, approval workflows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Policy packs, private networking, SLAs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Commercial drivers: high-fidelity rendering engines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Specialized verifiers, regulated connectors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Volume discounts, dedicated 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Enterprise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Works alongside your existing ECM.</a:t>
            </a:r>
            <a:br/>
            <a:r>
              <a:t>No rip-and-replace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OfficePlane runs as a sidecar to Alfresco, SharePoint, or any document management system.</a:t>
            </a:r>
            <a:br/>
            <a:r>
              <a:t>Customers keep their governance. You add deterministic agent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29260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FF"/>
                </a:solidFill>
                <a:latin typeface="Calibri"/>
              </a:defRPr>
            </a:pPr>
            <a:r>
              <a:t>ECM  --  System of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Stores canonical documents and versions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Permissions / RBAC and access control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Metadata, folders, lifecycle management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Audit logs (repository events)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Integration surface (REST / CMIS)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029200" cy="29260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9FF14"/>
                </a:solidFill>
                <a:latin typeface="Calibri"/>
              </a:defRPr>
            </a:pPr>
            <a:r>
              <a:t>OfficePlane  --  System of Change +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8404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Executes Plan -&gt; Contract -&gt; Apply -&gt; Verify runs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Policy-aware contracts (what may be edited)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IR compiler + deterministic drivers (DOCX/XLSX/PDF)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Run ledger: immutable event history + provenance</a:t>
            </a:r>
          </a:p>
          <a:p>
            <a:pPr>
              <a:spcBef>
                <a:spcPts val="800"/>
              </a:spcBef>
              <a:defRPr sz="1400">
                <a:solidFill>
                  <a:srgbClr val="C0C8D4"/>
                </a:solidFill>
              </a:defRPr>
            </a:pPr>
            <a:r>
              <a:t>  Verification bundle: visual diff + structural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0" cy="50800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21C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Self-host free forever. Managed service starts at $0.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606040" cy="41148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4254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1,000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500 Prettify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50 Contract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 GB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LibreOffice 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Community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103120"/>
            <a:ext cx="2606040" cy="41148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9FF14"/>
                </a:solidFill>
                <a:latin typeface="Calibri"/>
              </a:defRPr>
            </a:pPr>
            <a:r>
              <a:t>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$9 /month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08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25,000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10,000 Prettify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6576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1,000 Contract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931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10 GB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All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480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Email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103120"/>
            <a:ext cx="2606040" cy="41148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9FF14"/>
                </a:solidFill>
                <a:latin typeface="Calibri"/>
              </a:defRPr>
            </a:pPr>
            <a:r>
              <a:t>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$49 /month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200,000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100,000 Prettify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576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10,000 Contract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31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50 GB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All drivers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80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Priority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2103120"/>
            <a:ext cx="2606040" cy="41148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8116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9FF14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$199 /month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108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1,000,000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500,000 Prettify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6576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100,000 Contract Requests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931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200 GB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All + custom drivers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480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8D4"/>
                </a:solidFill>
                <a:latin typeface="Calibri"/>
              </a:defRPr>
            </a:pPr>
            <a:r>
              <a:t>  Dedicated support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6355080"/>
            <a:ext cx="10698480" cy="411480"/>
          </a:xfrm>
          <a:prstGeom prst="roundRect">
            <a:avLst>
              <a:gd name="adj" fmla="val 2000"/>
            </a:avLst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" y="6355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4A6"/>
                </a:solidFill>
                <a:latin typeface="Calibri"/>
              </a:defRPr>
            </a:pPr>
            <a:r>
              <a:t>Enterprise: Volume discounts, SSO, dedicated infra, custom drivers, SLA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355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8621C"/>
                </a:solidFill>
                <a:latin typeface="Calibri"/>
              </a:defRPr>
            </a:pPr>
            <a:r>
              <a:t>Talk to us -&gt;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Ready to build the future</a:t>
            </a:r>
            <a:br/>
            <a:r>
              <a:t>of document automation?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0C8D4"/>
                </a:solidFill>
                <a:latin typeface="Calibri"/>
              </a:defRPr>
            </a:pPr>
            <a:r>
              <a:t>Join the community building the agentic runtime for office workflows.</a:t>
            </a:r>
            <a:br/>
            <a:r>
              <a:t>Star the repo, contribute drivers, and shape the future of agentic document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931920"/>
            <a:ext cx="2743200" cy="640080"/>
          </a:xfrm>
          <a:prstGeom prst="roundRect">
            <a:avLst>
              <a:gd name="adj" fmla="val 2000"/>
            </a:avLst>
          </a:prstGeom>
          <a:solidFill>
            <a:srgbClr val="E86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39502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Star on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2743200" cy="64008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 w="19050">
            <a:solidFill>
              <a:srgbClr val="3A42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39502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Read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9FF14"/>
                </a:solidFill>
                <a:latin typeface="Calibri"/>
              </a:defRPr>
            </a:pPr>
            <a:r>
              <a:t>github.com/enoch3712/AgenticDocs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486400"/>
            <a:ext cx="5760720" cy="914400"/>
          </a:xfrm>
          <a:prstGeom prst="roundRect">
            <a:avLst>
              <a:gd name="adj" fmla="val 2000"/>
            </a:avLst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5532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Get early access to the Scale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852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4A6"/>
                </a:solidFill>
                <a:latin typeface="Calibri"/>
              </a:defRPr>
            </a:pPr>
            <a:r>
              <a:t>Join the waitlist for hosted agentic runs with audit logs, team features, and premium support.</a:t>
            </a:r>
            <a:br/>
            <a:r>
              <a:t>Early access includes $200 in free agentic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1963</Words>
  <Application>Microsoft Macintosh PowerPoint</Application>
  <PresentationFormat>Widescreen</PresentationFormat>
  <Paragraphs>228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Julio Almeida</cp:lastModifiedBy>
  <cp:revision>2</cp:revision>
  <dcterms:created xsi:type="dcterms:W3CDTF">2013-01-27T09:14:16Z</dcterms:created>
  <dcterms:modified xsi:type="dcterms:W3CDTF">2026-03-05T16:28:38Z</dcterms:modified>
  <cp:category/>
</cp:coreProperties>
</file>